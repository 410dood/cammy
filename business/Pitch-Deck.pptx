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(pre-tax)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D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
400 licenses</c:v>
                  </c:pt>
                  <c:pt idx="1">
                    <c:v>Base
900 licenses</c:v>
                  </c:pt>
                  <c:pt idx="2">
                    <c:v>Strong
1,800 licenses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21900</c:v>
                </c:pt>
                <c:pt idx="1">
                  <c:v>55100</c:v>
                </c:pt>
                <c:pt idx="2">
                  <c:v>116500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D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9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64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9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420"/>
        </a:solidFill>
        <a:ln>
          <a:noFill/>
        </a:ln>
        <a:effectLst/>
      </c:spPr>
    </c:plotArea>
    <c:plotVisOnly val="1"/>
    <c:dispBlanksAs val="span"/>
  </c:chart>
  <c:spPr>
    <a:solidFill>
      <a:srgbClr val="0E14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9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  00:00:01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ZoomyZoomyCamCam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Iris power. Frigate AI. On Windows and Mac.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Docker. No Coral. No subscription.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AD"/>
                </a:solidFill>
              </a:rPr>
              <a:t>Bootstrapped indie business pitch  ·  Bill Doody  ·  June 2026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611880"/>
            <a:ext cx="411480" cy="4114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611880"/>
            <a:ext cx="411480" cy="4114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6118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surveillance forces a bad trade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79192" cy="3154680"/>
          </a:xfrm>
          <a:prstGeom prst="roundRect">
            <a:avLst>
              <a:gd name="adj" fmla="val 2389"/>
            </a:avLst>
          </a:prstGeom>
          <a:solidFill>
            <a:srgbClr val="1A2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Cloud cameras rent you your own footage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D"/>
                </a:solidFill>
              </a:rPr>
              <a:t>Ring &amp; Nest charge $10–20/mo forever, and your video lives on someone else's servers.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9272" y="1234440"/>
            <a:ext cx="2679192" cy="3154680"/>
          </a:xfrm>
          <a:prstGeom prst="roundRect">
            <a:avLst>
              <a:gd name="adj" fmla="val 2389"/>
            </a:avLst>
          </a:prstGeom>
          <a:solidFill>
            <a:srgbClr val="1A23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Local AI is a weekend of DevOps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2044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D"/>
                </a:solidFill>
              </a:rPr>
              <a:t>Frigate is superb — if you run Linux, Docker, YAML, and buy a Coral accelerator.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81344" y="1234440"/>
            <a:ext cx="2679192" cy="3154680"/>
          </a:xfrm>
          <a:prstGeom prst="roundRect">
            <a:avLst>
              <a:gd name="adj" fmla="val 2389"/>
            </a:avLst>
          </a:prstGeom>
          <a:solidFill>
            <a:srgbClr val="1A233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82512" y="21031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The easy options are walled in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382512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D"/>
                </a:solidFill>
              </a:rPr>
              <a:t>Blue Iris is Windows-only with a dated UI. SecuritySpy is Mac-only. UniFi locks you to its cameras.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installer. Every platform. All local.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4"/>
                </a:solidFill>
              </a:rPr>
              <a:t>A self-hosted NVR with GPU AI that runs natively on Windows (DirectML), Apple Silicon (CoreML), and Linux (CUDA) — one ONNX model, no special hardware, footage never leaves the house.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05072" cy="1234440"/>
          </a:xfrm>
          <a:prstGeom prst="roundRect">
            <a:avLst>
              <a:gd name="adj" fmla="val 5185"/>
            </a:avLst>
          </a:prstGeom>
          <a:solidFill>
            <a:srgbClr val="1A233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359152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4871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176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24/7 recording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25420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Lossless packet-copy to disk, retention by age, size, or events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81728" y="2011680"/>
            <a:ext cx="4005072" cy="1234440"/>
          </a:xfrm>
          <a:prstGeom prst="roundRect">
            <a:avLst>
              <a:gd name="adj" fmla="val 5185"/>
            </a:avLst>
          </a:prstGeom>
          <a:solidFill>
            <a:srgbClr val="1A2332"/>
          </a:solidFill>
          <a:ln/>
        </p:spPr>
      </p:sp>
      <p:sp>
        <p:nvSpPr>
          <p:cNvPr id="12" name="Shape 9"/>
          <p:cNvSpPr/>
          <p:nvPr/>
        </p:nvSpPr>
        <p:spPr>
          <a:xfrm>
            <a:off x="4882896" y="2359152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4871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96128" y="2176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Two-stage AI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96128" y="25420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Motion gates YOLO on any DX12 GPU or Apple Silicon — ~9 ms inference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4005072" cy="1234440"/>
          </a:xfrm>
          <a:prstGeom prst="roundRect">
            <a:avLst>
              <a:gd name="adj" fmla="val 5185"/>
            </a:avLst>
          </a:prstGeom>
          <a:solidFill>
            <a:srgbClr val="1A2332"/>
          </a:solidFill>
          <a:ln/>
        </p:spPr>
      </p:sp>
      <p:sp>
        <p:nvSpPr>
          <p:cNvPr id="17" name="Shape 13"/>
          <p:cNvSpPr/>
          <p:nvPr/>
        </p:nvSpPr>
        <p:spPr>
          <a:xfrm>
            <a:off x="658368" y="3776472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9044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93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Smart search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39593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Type 'the delivery truck' — CLIP finds it. Faces, plates, audio events too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81728" y="3429000"/>
            <a:ext cx="4005072" cy="1234440"/>
          </a:xfrm>
          <a:prstGeom prst="roundRect">
            <a:avLst>
              <a:gd name="adj" fmla="val 5185"/>
            </a:avLst>
          </a:prstGeom>
          <a:solidFill>
            <a:srgbClr val="1A2332"/>
          </a:solidFill>
          <a:ln/>
        </p:spPr>
      </p:sp>
      <p:sp>
        <p:nvSpPr>
          <p:cNvPr id="22" name="Shape 17"/>
          <p:cNvSpPr/>
          <p:nvPr/>
        </p:nvSpPr>
        <p:spPr>
          <a:xfrm>
            <a:off x="4882896" y="3776472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90448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96128" y="3593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Local-first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596128" y="39593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No cloud dependency, no account, Home Assistant native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$10.1B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D"/>
                </a:solidFill>
              </a:rPr>
              <a:t>smart-home video surveillance market,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280160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02152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D"/>
                </a:solidFill>
              </a:rPr>
              <a:t>CAGR — to $19.2B by 2031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1280160"/>
            <a:ext cx="2679192" cy="1828800"/>
          </a:xfrm>
          <a:prstGeom prst="roundRect">
            <a:avLst>
              <a:gd name="adj" fmla="val 3500"/>
            </a:avLst>
          </a:prstGeom>
          <a:solidFill>
            <a:srgbClr val="1A2332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~16%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64224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D"/>
                </a:solidFill>
              </a:rPr>
              <a:t>CAGR for AI-enabled analytics — the fastest segment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</a:rPr>
              <a:t>Two secular shifts favor us: </a:t>
            </a:r>
            <a:pPr indent="0" marL="0">
              <a:buNone/>
            </a:pPr>
            <a:r>
              <a:rPr lang="en-US" sz="1400" dirty="0">
                <a:solidFill>
                  <a:srgbClr val="8A99AD"/>
                </a:solidFill>
              </a:rPr>
              <a:t>AI detection has become table stakes, and processing is moving from cloud to edge. Subscription fatigue is real — the self-hosted communities (Frigate's six-figure install base, r/BlueIris, IP Cam Talk) are growing and openly shopping for exactly this product.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field, and the seat nobody occupies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18288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</a:rPr>
                        <a:t>Platforms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DF4"/>
                          </a:solidFill>
                        </a:rPr>
                        <a:t>The catch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Blue Iris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$70 one-time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Windows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Dated UI, AI needs add-ons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Frigate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Free + $50/yr Plus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Linux/Docker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DevOps required, accelerator setup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Scrypted NVR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$40/yr + $10/cam/yr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Cross-platform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Per-camera subscription, plugin AI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Agent DVR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~$15/mo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Cross-platform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Subscription for HD &amp; remote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SecuritySpy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Per-camera one-time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macOS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9AD"/>
                          </a:solidFill>
                        </a:rPr>
                        <a:t>No modern object AI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</a:rPr>
                        <a:t>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</a:rPr>
                        <a:t>$79 one-time, unlimited cams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</a:rPr>
                        <a:t>Win + Mac + Linux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</a:rPr>
              <a:t>Positioning: the only no-subscription, no-Docker NVR with first-class GPU AI on both Windows and Apple Silicon.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Feature-complete — plus tricks nobody else has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9AD"/>
                </a:solidFill>
              </a:rPr>
              <a:t>28/28 items on the competitor feature matrix shipped and hardware-validated: zones &amp; privacy masks, face recognition, plate reading with watchlists, PTZ autotracking, audio events, timeline scrubbing, clip export, MQTT/Home Assistant, push notifications.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1A233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66544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29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4"/>
                </a:solidFill>
              </a:rPr>
              <a:t>Duress hand signal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886200" y="2029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A held gesture silently triggers a max-priority alert — a panic button no incumbent ships. Press-ready.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1A2332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3026664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54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9900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4"/>
                </a:solidFill>
              </a:rPr>
              <a:t>Natural-language search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886200" y="2990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CLIP-powered: 'white van in the driveway' just works, all on-device.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1A233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3986784"/>
            <a:ext cx="530352" cy="530352"/>
          </a:xfrm>
          <a:prstGeom prst="ellipse">
            <a:avLst/>
          </a:prstGeom>
          <a:solidFill>
            <a:srgbClr val="0E14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114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4"/>
                </a:solidFill>
              </a:rPr>
              <a:t>Touchless PTZ + GenAI captions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3886200" y="39502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AD"/>
                </a:solidFill>
              </a:rPr>
              <a:t>Steer cameras by hand gesture; local LLM writes event descriptions. Opt-in, local-first.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model: own it, like the customers want 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79192" cy="2377440"/>
          </a:xfrm>
          <a:prstGeom prst="roundRect">
            <a:avLst>
              <a:gd name="adj" fmla="val 2692"/>
            </a:avLst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</a:rPr>
              <a:t>one-time license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D"/>
                </a:solidFill>
              </a:rPr>
              <a:t>Unlimited cameras per household. 12 months of updates included. 30-day full trial.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280160"/>
            <a:ext cx="2679192" cy="2377440"/>
          </a:xfrm>
          <a:prstGeom prst="roundRect">
            <a:avLst>
              <a:gd name="adj" fmla="val 2692"/>
            </a:avLst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$29/yr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</a:rPr>
              <a:t>optional update plan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4871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D"/>
                </a:solidFill>
              </a:rPr>
              <a:t>Software never stops working without it — Blue Iris-proven, trust-building.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280160"/>
            <a:ext cx="2679192" cy="2377440"/>
          </a:xfrm>
          <a:prstGeom prst="roundRect">
            <a:avLst>
              <a:gd name="adj" fmla="val 2692"/>
            </a:avLst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$4–5/mo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82512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</a:rPr>
              <a:t>future: cloud relay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2512" y="248716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D"/>
                </a:solidFill>
              </a:rPr>
              <a:t>Optional zero-config remote access for recurring revenue. Strictly opt-in.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4"/>
                </a:solidFill>
              </a:rPr>
              <a:t>Proprietary, not open-core. </a:t>
            </a:r>
            <a:pPr indent="0" marL="0">
              <a:buNone/>
            </a:pPr>
            <a:r>
              <a:rPr lang="en-US" sz="1300" dirty="0">
                <a:solidFill>
                  <a:srgbClr val="8A99AD"/>
                </a:solidFill>
              </a:rPr>
              <a:t>Sold via merchant-of-record (Lemon Squeezy, ~5% fee) so tax compliance is outsourced. Per-camera pricing and subscriptions are exactly what this segment is fleeing — one-time pricing IS the brand.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Go-to-market: communities and creators, not ads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87552"/>
          </a:xfrm>
          <a:prstGeom prst="roundRect">
            <a:avLst>
              <a:gd name="adj" fmla="val 6481"/>
            </a:avLst>
          </a:prstGeom>
          <a:solidFill>
            <a:srgbClr val="1A2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7218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98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4"/>
                </a:solidFill>
              </a:rPr>
              <a:t>Beta in the watering holes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114800" y="12984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D"/>
                </a:solidFill>
              </a:rPr>
              <a:t>50–100 testers from IP Cam Talk, r/BlueIris, r/selfhosted, Home Assistant forums. Free founder licenses buy bug reports and camera coverage.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89520" y="12984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Aug–Sep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8229600" cy="987552"/>
          </a:xfrm>
          <a:prstGeom prst="roundRect">
            <a:avLst>
              <a:gd name="adj" fmla="val 6481"/>
            </a:avLst>
          </a:prstGeom>
          <a:solidFill>
            <a:srgbClr val="1A2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1518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41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4"/>
                </a:solidFill>
              </a:rPr>
              <a:t>YouTube reviewers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114800" y="24414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D"/>
                </a:solidFill>
              </a:rPr>
              <a:t>The channels that made Frigate famous need new content. The duress-gesture demo and CLIP search are made for video.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589520" y="24414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Sep–Oct 2026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474720"/>
            <a:ext cx="8229600" cy="987552"/>
          </a:xfrm>
          <a:prstGeom prst="roundRect">
            <a:avLst>
              <a:gd name="adj" fmla="val 6481"/>
            </a:avLst>
          </a:prstGeom>
          <a:solidFill>
            <a:srgbClr val="1A23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58184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5844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4"/>
                </a:solidFill>
              </a:rPr>
              <a:t>Coordinated launch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114800" y="35844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AD"/>
                </a:solidFill>
              </a:rPr>
              <a:t>Show HN + Product Hunt + embargo lift, same week. Founder pricing $59 for first 500. Local-first AI is reliably HN front-page material.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589520" y="35844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Oct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Year-1 sketch: real money at hobby-scale risk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258"/>
            </a:avLst>
          </a:prstGeom>
          <a:solidFill>
            <a:srgbClr val="1A2332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371600"/>
            <a:ext cx="2514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DF4"/>
                </a:solidFill>
              </a:rPr>
              <a:t>Assumptions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A99AD"/>
                </a:solidFill>
              </a:rPr>
              <a:t>$79 list / $59 founder mix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A99AD"/>
                </a:solidFill>
              </a:rPr>
              <a:t>~8% MoR fees + refunds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A99AD"/>
                </a:solidFill>
              </a:rPr>
              <a:t>$3.5–6k fixed costs (certs, site, cameras, security review)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8A99AD"/>
                </a:solidFill>
              </a:rPr>
              <a:t>Zero paid marketing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A99AD"/>
                </a:solidFill>
              </a:rPr>
              <a:t>Base = 2–3 sales/day; one good YouTube review drives more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9319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8357616" y="301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repo to revenue in four months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75104" cy="2606040"/>
          </a:xfrm>
          <a:prstGeom prst="roundRect">
            <a:avLst>
              <a:gd name="adj" fmla="val 3241"/>
            </a:avLst>
          </a:prstGeom>
          <a:solidFill>
            <a:srgbClr val="1A233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20"/>
                </a:solidFill>
              </a:rPr>
              <a:t>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487168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AD"/>
                </a:solidFill>
              </a:rPr>
              <a:t>Rename (trademark-clear), security hardening, validate macOS/Linux builds, code signing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Jun–Jul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14016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A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15184" y="1234440"/>
            <a:ext cx="1975104" cy="2606040"/>
          </a:xfrm>
          <a:prstGeom prst="roundRect">
            <a:avLst>
              <a:gd name="adj" fmla="val 3241"/>
            </a:avLst>
          </a:prstGeom>
          <a:solidFill>
            <a:srgbClr val="1A2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2798064" y="146304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20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7977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Sellable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79776" y="2487168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AD"/>
                </a:solidFill>
              </a:rPr>
              <a:t>License keys via Lemon Squeezy, 30-day trial, website + demo video, auto-update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79776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Jul–Aug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A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73168" y="1234440"/>
            <a:ext cx="1975104" cy="2606040"/>
          </a:xfrm>
          <a:prstGeom prst="roundRect">
            <a:avLst>
              <a:gd name="adj" fmla="val 3241"/>
            </a:avLst>
          </a:prstGeom>
          <a:solidFill>
            <a:srgbClr val="1A2332"/>
          </a:solidFill>
          <a:ln/>
        </p:spPr>
      </p:sp>
      <p:sp>
        <p:nvSpPr>
          <p:cNvPr id="20" name="Shape 18"/>
          <p:cNvSpPr/>
          <p:nvPr/>
        </p:nvSpPr>
        <p:spPr>
          <a:xfrm>
            <a:off x="4956048" y="146304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20"/>
                </a:solidFill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377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Beta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2487168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AD"/>
                </a:solidFill>
              </a:rPr>
              <a:t>100 testers, compatibility matrix, pricing validation, reviewers under embargo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Aug–Sep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AD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31152" y="1234440"/>
            <a:ext cx="1975104" cy="2606040"/>
          </a:xfrm>
          <a:prstGeom prst="roundRect">
            <a:avLst>
              <a:gd name="adj" fmla="val 3241"/>
            </a:avLst>
          </a:prstGeom>
          <a:solidFill>
            <a:srgbClr val="1A2332"/>
          </a:solidFill>
          <a:ln/>
        </p:spPr>
      </p:sp>
      <p:sp>
        <p:nvSpPr>
          <p:cNvPr id="27" name="Shape 25"/>
          <p:cNvSpPr/>
          <p:nvPr/>
        </p:nvSpPr>
        <p:spPr>
          <a:xfrm>
            <a:off x="7114032" y="146304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71140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20"/>
                </a:solidFill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95744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4"/>
                </a:solidFill>
              </a:rPr>
              <a:t>Launch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95744" y="2487168"/>
            <a:ext cx="1664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AD"/>
                </a:solidFill>
              </a:rPr>
              <a:t>HN + Product Hunt + reviews. $59 founder pricing. Ship every 2 weeks after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95744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Oct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The product is built. </a:t>
            </a:r>
            <a:pPr indent="0" marL="0">
              <a:buNone/>
            </a:pPr>
            <a:r>
              <a:rPr lang="en-US" sz="1600" dirty="0">
                <a:solidFill>
                  <a:srgbClr val="E8EDF4"/>
                </a:solidFill>
              </a:rPr>
              <a:t>What stands between this repo and revenue is ~$1–3.5k in costs, a rename, and four disciplined months.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ZoomyZoomyCamCam — Indie Business Pitch</dc:title>
  <dc:subject>PptxGenJS Presentation</dc:subject>
  <dc:creator>Bill Doody</dc:creator>
  <cp:lastModifiedBy>Bill Doody</cp:lastModifiedBy>
  <cp:revision>1</cp:revision>
  <dcterms:created xsi:type="dcterms:W3CDTF">2026-06-12T18:58:20Z</dcterms:created>
  <dcterms:modified xsi:type="dcterms:W3CDTF">2026-06-12T18:58:20Z</dcterms:modified>
</cp:coreProperties>
</file>